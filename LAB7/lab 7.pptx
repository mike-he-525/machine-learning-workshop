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824" r:id="rId2"/>
    <p:sldId id="825" r:id="rId3"/>
    <p:sldId id="826" r:id="rId4"/>
    <p:sldId id="827" r:id="rId5"/>
    <p:sldId id="828" r:id="rId6"/>
    <p:sldId id="830" r:id="rId7"/>
    <p:sldId id="831" r:id="rId8"/>
    <p:sldId id="832" r:id="rId9"/>
    <p:sldId id="833" r:id="rId10"/>
    <p:sldId id="829" r:id="rId11"/>
    <p:sldId id="834" r:id="rId12"/>
    <p:sldId id="835" r:id="rId13"/>
    <p:sldId id="836" r:id="rId14"/>
    <p:sldId id="838" r:id="rId15"/>
    <p:sldId id="837" r:id="rId16"/>
    <p:sldId id="839" r:id="rId17"/>
    <p:sldId id="843" r:id="rId18"/>
    <p:sldId id="842" r:id="rId19"/>
    <p:sldId id="844" r:id="rId20"/>
    <p:sldId id="845" r:id="rId21"/>
    <p:sldId id="846" r:id="rId22"/>
    <p:sldId id="847" r:id="rId23"/>
    <p:sldId id="854" r:id="rId24"/>
    <p:sldId id="848" r:id="rId25"/>
    <p:sldId id="849" r:id="rId26"/>
    <p:sldId id="850" r:id="rId27"/>
    <p:sldId id="851" r:id="rId28"/>
    <p:sldId id="856" r:id="rId29"/>
    <p:sldId id="857" r:id="rId30"/>
    <p:sldId id="858" r:id="rId31"/>
    <p:sldId id="852" r:id="rId32"/>
    <p:sldId id="853" r:id="rId33"/>
    <p:sldId id="859" r:id="rId34"/>
    <p:sldId id="860" r:id="rId35"/>
    <p:sldId id="861" r:id="rId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7517" autoAdjust="0"/>
  </p:normalViewPr>
  <p:slideViewPr>
    <p:cSldViewPr snapToGrid="0">
      <p:cViewPr varScale="1">
        <p:scale>
          <a:sx n="74" d="100"/>
          <a:sy n="74" d="100"/>
        </p:scale>
        <p:origin x="12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4E7FAF-BB63-4477-952C-1CF37F4311E0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F82C6F-F01F-43F4-A3EE-C23C62544C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5420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54DBE6-A3DF-4427-9916-DAEA8749A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5904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F7BFB-CACA-2D7D-3396-B390237D7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5A3A33-0467-A907-12B5-77BDE554E8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D53BE2D-F132-F4A4-AE16-564CF1BBE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Binary classification using Logistic Regression.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96FFEB-D973-F3AD-2A4D-BA88C82A3D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54DBE6-A3DF-4427-9916-DAEA8749A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129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980CA-8E14-D306-FB01-AC6F1F0EA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24627F-3FFD-9B87-5E81-05B839F822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5605686-5F1F-B493-515B-335D1184FD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Regression using Linear Regression.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C42520-969B-9795-4E9A-44A3D90E4B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54DBE6-A3DF-4427-9916-DAEA8749A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01896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5BAAF-7D5C-D3C3-08EB-0616C89F7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F2A545E-C2A8-13C0-FBB2-F7BEFDF1E7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58E27D0-FC9F-0755-7E40-BDE5116E38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Regression using Linear Regression.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1C0082-4950-9B98-7472-C578438D3D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54DBE6-A3DF-4427-9916-DAEA8749A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0860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71A6A-25EF-EEF6-2A36-2BC496D93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55FD8F3-6ADC-F340-7BE0-783099080F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4E24DB7-FC62-0D7C-13A4-B599A3CFF5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Regression using Linear Regression.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A83AFE-C468-2268-1332-4BF683F474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54DBE6-A3DF-4427-9916-DAEA8749A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81668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52559-FD29-5250-A58E-30BFBBD61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F40F7E1-D3E4-2A72-7863-8355B75E71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80AF079-A10A-99D5-76F4-FAAA535FD6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Regression using Linear Regression.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034816-CA37-FB4D-864F-659E4EBEE4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54DBE6-A3DF-4427-9916-DAEA8749AF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91120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L2 Regularization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82C6F-F01F-43F4-A3EE-C23C62544CA8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73702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L1 Regularization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82C6F-F01F-43F4-A3EE-C23C62544CA8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7268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B13FEB-5086-9336-DE7B-81D3EF9ED9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DA7D959-28B3-2642-BE0C-B942A139E2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2BC214-A704-7E1B-E0AD-9C1E71685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79DCF-9157-438F-95C3-A305CCA83A32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390EED-0A63-F7D0-D2D2-AAD797071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450A1F-EA41-71FE-D58C-9ECB603CD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44C22-7777-463E-AFA3-1CCFE95AE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8049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FD50FA-219A-7F15-17CC-36B8E27E2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F2C58E-1827-F374-803E-01D20A2CE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B6FB61-AD45-FB0A-17A6-3A4DF8308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79DCF-9157-438F-95C3-A305CCA83A32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F17728-C34D-E013-9CB1-5CCEE4851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1AAB67-2B86-160B-CEDB-9F9E027FC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44C22-7777-463E-AFA3-1CCFE95AE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0918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8DE158-D554-CD86-E335-022981007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02A654-4213-2F70-E689-53CCF3CE1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AC0F94-B5E5-ACD2-756C-86B0BDAC1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79DCF-9157-438F-95C3-A305CCA83A32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4865A3-373B-F43B-1E24-DFB8F74A5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5CABBF-F603-88CB-4E93-FBFCC4798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44C22-7777-463E-AFA3-1CCFE95AE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0672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0F77D8-A481-BD33-E593-CA8B60901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E88172-AD9B-37E8-9F76-4560D32A51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D3662BE-2464-562A-0711-6DE1037753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B87E46-34CD-4D4F-9AC2-C5F61BB54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79DCF-9157-438F-95C3-A305CCA83A32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FCF885-1F30-B121-3C02-464C0EBBF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92E732-29DE-1963-E0EA-879729847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44C22-7777-463E-AFA3-1CCFE95AE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954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1E4823-5A90-4275-447A-6F1480E62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C84FBB-10B5-A7CE-6488-A9127473A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531A29E-A74E-924F-1F6C-4867470895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0FBECFB-C19E-4FAC-D229-60459296A0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DAD499F-4EA6-DAAA-93DE-C207155392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71403B6-2B6E-425A-EE4A-45E668C30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79DCF-9157-438F-95C3-A305CCA83A32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134D505-AD07-6066-9E61-0AB8E6FE0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8E00A49-1454-27FF-90EF-9E40464BC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44C22-7777-463E-AFA3-1CCFE95AE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881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DE8F55-7CD3-C7B5-189B-8007858FD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C3D981A-E7B7-7CCD-C901-64734925D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79DCF-9157-438F-95C3-A305CCA83A32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CEA3CE4-17AC-7617-FE5B-B7D8D738A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7FB01CD-1A34-994B-E149-A2CD8D8F2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44C22-7777-463E-AFA3-1CCFE95AE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6422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228EF0B-E4AF-7C84-DB26-34388840C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79DCF-9157-438F-95C3-A305CCA83A32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D9ECFD8-DFF6-4F83-F6A7-245B02208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5CDBC1-2519-EB98-E07C-C8C3578BC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44C22-7777-463E-AFA3-1CCFE95AE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5505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F515C8-9F6B-A968-03B8-A393D193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8E59D1-1AAF-03D2-4C00-224BCCDAE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C0489B0-4ECB-C941-92B2-489EDBB6C8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438B78F-F4AE-7511-6470-84AC4EE50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79DCF-9157-438F-95C3-A305CCA83A32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17D3BF7-0E3C-4737-1791-E52BB901C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10DB9EF-ACC4-B63E-E8B2-EF8850541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44C22-7777-463E-AFA3-1CCFE95AE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1340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E4A074-1957-B0DC-754C-96FCBC285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6A63468-4885-1347-A0D1-57FA723346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1353ED7-5DC0-153F-9523-5A6316D00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75E4EF-FCCF-0148-0B90-6EC5D59B9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79DCF-9157-438F-95C3-A305CCA83A32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EEC2CE7-C73A-4396-C085-986AFACBB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768830-5430-68A7-9092-09E64CAAC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44C22-7777-463E-AFA3-1CCFE95AE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6620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3ADD20-CA8A-D6C1-91A0-E51FFA1B3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4A7B9C5-14FF-148F-5519-AC335A4A83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E936E2-564B-4E1A-E1D5-B9BA5F15F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79DCF-9157-438F-95C3-A305CCA83A32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EBC4CB-226F-30A3-A31C-40CC9F612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9F3BE8-3538-1AF8-4F81-F6A582914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44C22-7777-463E-AFA3-1CCFE95AE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4022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45791A8-18EA-B24C-4600-8454E64C15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0BDB7E1-0750-D62E-C8F7-F9501A14CA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D1ADD9-A361-0D12-D75A-64297EDBC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79DCF-9157-438F-95C3-A305CCA83A32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4B294A-A25B-329A-5814-FA6E75B84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16358E-E9EE-EA57-FDC7-6D8B4FCE9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44C22-7777-463E-AFA3-1CCFE95AE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13914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9836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C1065F3-4E88-8DDF-E68E-4C2D1D668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986C5A-005F-791C-814D-F6EA52B67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3DE0D1-36FD-1C54-66FE-334EA58AF8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279DCF-9157-438F-95C3-A305CCA83A32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50ECC6-C9FE-4181-460F-70E38D3CC8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1440FB-B341-2F62-EAD7-10F3D2B5F2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C44C22-7777-463E-AFA3-1CCFE95AE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4735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.xml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 flipV="1">
            <a:off x="0" y="515837"/>
            <a:ext cx="12192000" cy="36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2C2254"/>
              </a:gs>
              <a:gs pos="83000">
                <a:srgbClr val="2C2254"/>
              </a:gs>
              <a:gs pos="100000">
                <a:srgbClr val="0D0A47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01F42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-3550653" y="212178"/>
            <a:ext cx="503583" cy="530087"/>
          </a:xfrm>
          <a:prstGeom prst="rect">
            <a:avLst/>
          </a:prstGeom>
          <a:solidFill>
            <a:srgbClr val="D332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-3550653" y="775324"/>
            <a:ext cx="503583" cy="530087"/>
          </a:xfrm>
          <a:prstGeom prst="rect">
            <a:avLst/>
          </a:prstGeom>
          <a:solidFill>
            <a:srgbClr val="0D0A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-3551433" y="1338470"/>
            <a:ext cx="503583" cy="530087"/>
          </a:xfrm>
          <a:prstGeom prst="rect">
            <a:avLst/>
          </a:prstGeom>
          <a:solidFill>
            <a:srgbClr val="FFE4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-3551433" y="1934675"/>
            <a:ext cx="503583" cy="530087"/>
          </a:xfrm>
          <a:prstGeom prst="rect">
            <a:avLst/>
          </a:prstGeom>
          <a:solidFill>
            <a:srgbClr val="2F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-3551434" y="2564288"/>
            <a:ext cx="503583" cy="530087"/>
          </a:xfrm>
          <a:prstGeom prst="rect">
            <a:avLst/>
          </a:prstGeom>
          <a:solidFill>
            <a:srgbClr val="A2A5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5" name="PA-矩形 7">
            <a:extLst>
              <a:ext uri="{FF2B5EF4-FFF2-40B4-BE49-F238E27FC236}">
                <a16:creationId xmlns:a16="http://schemas.microsoft.com/office/drawing/2014/main" id="{928C1AA0-2E52-4FEC-B9B7-1C7363F57E0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96631" y="28617"/>
            <a:ext cx="18864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>
              <a:defRPr/>
            </a:pPr>
            <a:r>
              <a:rPr lang="en-US" altLang="zh-CN" sz="2800" b="1" dirty="0">
                <a:solidFill>
                  <a:srgbClr val="0D0A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Objective</a:t>
            </a:r>
            <a:endParaRPr lang="zh-CN" altLang="en-US" sz="2800" b="1" dirty="0">
              <a:solidFill>
                <a:srgbClr val="0D0A4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CF13688-3F21-FD88-10C4-E6BDDCFAB671}"/>
              </a:ext>
            </a:extLst>
          </p:cNvPr>
          <p:cNvSpPr txBox="1"/>
          <p:nvPr/>
        </p:nvSpPr>
        <p:spPr>
          <a:xfrm>
            <a:off x="559370" y="852415"/>
            <a:ext cx="11200830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purpose of this lab is to explore model selection, evaluation, and hyperparameter tuning using two widely-used real-world datasets.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the performance of a naive train-test split with k-fold cross-validation.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hyperparameter tuning using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GridSearchCV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(or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RandomizedSearchCV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Logistic Regression (binary classification) and Linear Regression (regression).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evaluation metrics: Accuracy and F1 Score for classification; Mean Squared Error (MSE) and R2 for regression.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visualizations directly in the document for all comparisons.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1137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834D7-5972-9729-1F10-F92FC1A67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8CF112FD-7A7F-C31E-D2D5-CFAABA834C48}"/>
              </a:ext>
            </a:extLst>
          </p:cNvPr>
          <p:cNvSpPr/>
          <p:nvPr/>
        </p:nvSpPr>
        <p:spPr>
          <a:xfrm flipV="1">
            <a:off x="0" y="515837"/>
            <a:ext cx="12192000" cy="36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2C2254"/>
              </a:gs>
              <a:gs pos="83000">
                <a:srgbClr val="2C2254"/>
              </a:gs>
              <a:gs pos="100000">
                <a:srgbClr val="0D0A47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01F42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FAF246E-801B-C1B1-CB34-45DEBD192150}"/>
              </a:ext>
            </a:extLst>
          </p:cNvPr>
          <p:cNvSpPr/>
          <p:nvPr/>
        </p:nvSpPr>
        <p:spPr>
          <a:xfrm>
            <a:off x="-3550653" y="212178"/>
            <a:ext cx="503583" cy="530087"/>
          </a:xfrm>
          <a:prstGeom prst="rect">
            <a:avLst/>
          </a:prstGeom>
          <a:solidFill>
            <a:srgbClr val="D332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A1993B2-1410-52FE-C519-B5AA7C727ADE}"/>
              </a:ext>
            </a:extLst>
          </p:cNvPr>
          <p:cNvSpPr/>
          <p:nvPr/>
        </p:nvSpPr>
        <p:spPr>
          <a:xfrm>
            <a:off x="-3550653" y="775324"/>
            <a:ext cx="503583" cy="530087"/>
          </a:xfrm>
          <a:prstGeom prst="rect">
            <a:avLst/>
          </a:prstGeom>
          <a:solidFill>
            <a:srgbClr val="0D0A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CA316B4-E534-ED04-EAC6-959095FD9031}"/>
              </a:ext>
            </a:extLst>
          </p:cNvPr>
          <p:cNvSpPr/>
          <p:nvPr/>
        </p:nvSpPr>
        <p:spPr>
          <a:xfrm>
            <a:off x="-3551433" y="1338470"/>
            <a:ext cx="503583" cy="530087"/>
          </a:xfrm>
          <a:prstGeom prst="rect">
            <a:avLst/>
          </a:prstGeom>
          <a:solidFill>
            <a:srgbClr val="FFE4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1775B04-A6C1-2A9F-A9AB-AE87AE569671}"/>
              </a:ext>
            </a:extLst>
          </p:cNvPr>
          <p:cNvSpPr/>
          <p:nvPr/>
        </p:nvSpPr>
        <p:spPr>
          <a:xfrm>
            <a:off x="-3551433" y="1934675"/>
            <a:ext cx="503583" cy="530087"/>
          </a:xfrm>
          <a:prstGeom prst="rect">
            <a:avLst/>
          </a:prstGeom>
          <a:solidFill>
            <a:srgbClr val="2F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645229C-881A-18FB-F1C2-6DF5D226EFC6}"/>
              </a:ext>
            </a:extLst>
          </p:cNvPr>
          <p:cNvSpPr/>
          <p:nvPr/>
        </p:nvSpPr>
        <p:spPr>
          <a:xfrm>
            <a:off x="-3551434" y="2564288"/>
            <a:ext cx="503583" cy="530087"/>
          </a:xfrm>
          <a:prstGeom prst="rect">
            <a:avLst/>
          </a:prstGeom>
          <a:solidFill>
            <a:srgbClr val="A2A5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5" name="PA-矩形 7">
            <a:extLst>
              <a:ext uri="{FF2B5EF4-FFF2-40B4-BE49-F238E27FC236}">
                <a16:creationId xmlns:a16="http://schemas.microsoft.com/office/drawing/2014/main" id="{9356A896-BFC3-D1EE-D35E-209C43D56FC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96631" y="28617"/>
            <a:ext cx="103235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>
              <a:defRPr/>
            </a:pPr>
            <a:r>
              <a:rPr lang="en-US" altLang="zh-CN" sz="2800" b="1" dirty="0">
                <a:solidFill>
                  <a:srgbClr val="0D0A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Dataset 1: Breast Cancer Wisconsin (Diagnostic) Dataset</a:t>
            </a:r>
            <a:endParaRPr lang="zh-CN" altLang="en-US" sz="2800" b="1" dirty="0">
              <a:solidFill>
                <a:srgbClr val="0D0A4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33CD7A7-0C72-EE1A-EA7A-57E31C75E7FC}"/>
              </a:ext>
            </a:extLst>
          </p:cNvPr>
          <p:cNvSpPr txBox="1"/>
          <p:nvPr/>
        </p:nvSpPr>
        <p:spPr>
          <a:xfrm>
            <a:off x="559370" y="852415"/>
            <a:ext cx="11200830" cy="22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Loda the dataset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missing values if present.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the dataset into features (X) and binary target labels (y).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 or standardize the features.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E107AF2-70A3-FFC1-3E35-A02734AB7D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531" y="3094375"/>
            <a:ext cx="6502400" cy="1645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009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3320E2B-D8DA-439A-E540-D685FADAF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5040"/>
            <a:ext cx="12192000" cy="103632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4109F43-CEC9-5175-B55A-1B59F6ADF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530" y="3027679"/>
            <a:ext cx="8215091" cy="1437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20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45E18-0A36-84D0-D342-44A8FAD1F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642AE745-7D6F-49B3-013E-6E9111904340}"/>
              </a:ext>
            </a:extLst>
          </p:cNvPr>
          <p:cNvSpPr/>
          <p:nvPr/>
        </p:nvSpPr>
        <p:spPr>
          <a:xfrm flipV="1">
            <a:off x="0" y="515837"/>
            <a:ext cx="12192000" cy="36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2C2254"/>
              </a:gs>
              <a:gs pos="83000">
                <a:srgbClr val="2C2254"/>
              </a:gs>
              <a:gs pos="100000">
                <a:srgbClr val="0D0A47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01F42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84AFD97-8E69-03BE-AF7E-AB1D5F291222}"/>
              </a:ext>
            </a:extLst>
          </p:cNvPr>
          <p:cNvSpPr/>
          <p:nvPr/>
        </p:nvSpPr>
        <p:spPr>
          <a:xfrm>
            <a:off x="-3550653" y="212178"/>
            <a:ext cx="503583" cy="530087"/>
          </a:xfrm>
          <a:prstGeom prst="rect">
            <a:avLst/>
          </a:prstGeom>
          <a:solidFill>
            <a:srgbClr val="D332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E3216E8-2E22-1806-B19B-595EBFDEEBE3}"/>
              </a:ext>
            </a:extLst>
          </p:cNvPr>
          <p:cNvSpPr/>
          <p:nvPr/>
        </p:nvSpPr>
        <p:spPr>
          <a:xfrm>
            <a:off x="-3550653" y="775324"/>
            <a:ext cx="503583" cy="530087"/>
          </a:xfrm>
          <a:prstGeom prst="rect">
            <a:avLst/>
          </a:prstGeom>
          <a:solidFill>
            <a:srgbClr val="0D0A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3D84E2A-2ED4-877D-4FCD-1ACFEAC634D4}"/>
              </a:ext>
            </a:extLst>
          </p:cNvPr>
          <p:cNvSpPr/>
          <p:nvPr/>
        </p:nvSpPr>
        <p:spPr>
          <a:xfrm>
            <a:off x="-3551433" y="1338470"/>
            <a:ext cx="503583" cy="530087"/>
          </a:xfrm>
          <a:prstGeom prst="rect">
            <a:avLst/>
          </a:prstGeom>
          <a:solidFill>
            <a:srgbClr val="FFE4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4FBCBD0-8345-9E6F-F7EE-E4502B5D0DF9}"/>
              </a:ext>
            </a:extLst>
          </p:cNvPr>
          <p:cNvSpPr/>
          <p:nvPr/>
        </p:nvSpPr>
        <p:spPr>
          <a:xfrm>
            <a:off x="-3551433" y="1934675"/>
            <a:ext cx="503583" cy="530087"/>
          </a:xfrm>
          <a:prstGeom prst="rect">
            <a:avLst/>
          </a:prstGeom>
          <a:solidFill>
            <a:srgbClr val="2F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BD75CB8-207B-C84E-0235-16D0A3A10826}"/>
              </a:ext>
            </a:extLst>
          </p:cNvPr>
          <p:cNvSpPr/>
          <p:nvPr/>
        </p:nvSpPr>
        <p:spPr>
          <a:xfrm>
            <a:off x="-3551434" y="2564288"/>
            <a:ext cx="503583" cy="530087"/>
          </a:xfrm>
          <a:prstGeom prst="rect">
            <a:avLst/>
          </a:prstGeom>
          <a:solidFill>
            <a:srgbClr val="A2A5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5" name="PA-矩形 7">
            <a:extLst>
              <a:ext uri="{FF2B5EF4-FFF2-40B4-BE49-F238E27FC236}">
                <a16:creationId xmlns:a16="http://schemas.microsoft.com/office/drawing/2014/main" id="{8F6E41BA-ABCB-AE5D-FCBA-D97B5ABA5B79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96631" y="28617"/>
            <a:ext cx="103235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>
              <a:defRPr/>
            </a:pPr>
            <a:r>
              <a:rPr lang="en-US" altLang="zh-CN" sz="2800" b="1" dirty="0">
                <a:solidFill>
                  <a:srgbClr val="0D0A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Dataset 2: Breast Cancer Wisconsin (Diagnostic) Dataset</a:t>
            </a:r>
            <a:endParaRPr lang="zh-CN" altLang="en-US" sz="2800" b="1" dirty="0">
              <a:solidFill>
                <a:srgbClr val="0D0A4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085F196-97A5-4313-9CCD-D2FCED4FE782}"/>
              </a:ext>
            </a:extLst>
          </p:cNvPr>
          <p:cNvSpPr txBox="1"/>
          <p:nvPr/>
        </p:nvSpPr>
        <p:spPr>
          <a:xfrm>
            <a:off x="559370" y="852415"/>
            <a:ext cx="11200830" cy="22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Loda the dataset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missing values if present.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the dataset into features (X) and the continuous target variable (y).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feature scaling as needed.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93AFF69-0194-9C22-714C-439284F448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370" y="3557676"/>
            <a:ext cx="7742857" cy="14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172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65FE107-9B25-FB30-4223-231952BE1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3967"/>
            <a:ext cx="12192000" cy="70746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70ECE51-6477-F878-1C0F-ADBB251AF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3399" y="1440709"/>
            <a:ext cx="8368743" cy="2253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404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6979A-23B3-FC56-FA8B-8B81045B1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AE5FB11-B603-AFDD-8BB2-7D009FCCE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3967"/>
            <a:ext cx="12192000" cy="70746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408027B-84EA-9760-C845-B3D419C45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3399" y="1440709"/>
            <a:ext cx="8368743" cy="2253123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14B16FB-82AD-A3A3-DAA4-C3F4FC946C33}"/>
              </a:ext>
            </a:extLst>
          </p:cNvPr>
          <p:cNvSpPr txBox="1"/>
          <p:nvPr/>
        </p:nvSpPr>
        <p:spPr>
          <a:xfrm>
            <a:off x="1803399" y="3074337"/>
            <a:ext cx="7518401" cy="619496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59462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25517D1-8431-CD19-8B37-5D401C21C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0560"/>
            <a:ext cx="12192000" cy="5516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840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0DDFF-DF5A-F9AD-8C52-90CE81EAA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2D76FC8-E96E-B682-E7D6-FCA74ABD6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0560"/>
            <a:ext cx="12192000" cy="551688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62302CC-B0BA-AA49-D772-2F605741916B}"/>
              </a:ext>
            </a:extLst>
          </p:cNvPr>
          <p:cNvSpPr txBox="1"/>
          <p:nvPr/>
        </p:nvSpPr>
        <p:spPr>
          <a:xfrm>
            <a:off x="0" y="5567944"/>
            <a:ext cx="11557000" cy="619496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93915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5B72341-FA67-0912-F961-EF357B53F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457" y="2028890"/>
            <a:ext cx="9514286" cy="10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812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8A8D9-0CCE-1945-4450-00BB4A44C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126A9626-F229-4DAF-E0C5-8CC9818FFA4A}"/>
              </a:ext>
            </a:extLst>
          </p:cNvPr>
          <p:cNvSpPr/>
          <p:nvPr/>
        </p:nvSpPr>
        <p:spPr>
          <a:xfrm flipV="1">
            <a:off x="0" y="515837"/>
            <a:ext cx="12192000" cy="36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2C2254"/>
              </a:gs>
              <a:gs pos="83000">
                <a:srgbClr val="2C2254"/>
              </a:gs>
              <a:gs pos="100000">
                <a:srgbClr val="0D0A47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01F42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EF39ABF-999F-33B9-1E00-4B58B5EEA902}"/>
              </a:ext>
            </a:extLst>
          </p:cNvPr>
          <p:cNvSpPr/>
          <p:nvPr/>
        </p:nvSpPr>
        <p:spPr>
          <a:xfrm>
            <a:off x="-3550653" y="212178"/>
            <a:ext cx="503583" cy="530087"/>
          </a:xfrm>
          <a:prstGeom prst="rect">
            <a:avLst/>
          </a:prstGeom>
          <a:solidFill>
            <a:srgbClr val="D332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82576B9-5346-28F9-7CFE-7130B130CAC7}"/>
              </a:ext>
            </a:extLst>
          </p:cNvPr>
          <p:cNvSpPr/>
          <p:nvPr/>
        </p:nvSpPr>
        <p:spPr>
          <a:xfrm>
            <a:off x="-3550653" y="775324"/>
            <a:ext cx="503583" cy="530087"/>
          </a:xfrm>
          <a:prstGeom prst="rect">
            <a:avLst/>
          </a:prstGeom>
          <a:solidFill>
            <a:srgbClr val="0D0A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A98E899-4455-D9C0-D469-F9A603D0DF05}"/>
              </a:ext>
            </a:extLst>
          </p:cNvPr>
          <p:cNvSpPr/>
          <p:nvPr/>
        </p:nvSpPr>
        <p:spPr>
          <a:xfrm>
            <a:off x="-3551433" y="1338470"/>
            <a:ext cx="503583" cy="530087"/>
          </a:xfrm>
          <a:prstGeom prst="rect">
            <a:avLst/>
          </a:prstGeom>
          <a:solidFill>
            <a:srgbClr val="FFE4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E4939B2-474B-3B06-9D1B-479D88854071}"/>
              </a:ext>
            </a:extLst>
          </p:cNvPr>
          <p:cNvSpPr/>
          <p:nvPr/>
        </p:nvSpPr>
        <p:spPr>
          <a:xfrm>
            <a:off x="-3551433" y="1934675"/>
            <a:ext cx="503583" cy="530087"/>
          </a:xfrm>
          <a:prstGeom prst="rect">
            <a:avLst/>
          </a:prstGeom>
          <a:solidFill>
            <a:srgbClr val="2F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BAF4BE6-C6F1-9427-416E-44DC3B223054}"/>
              </a:ext>
            </a:extLst>
          </p:cNvPr>
          <p:cNvSpPr/>
          <p:nvPr/>
        </p:nvSpPr>
        <p:spPr>
          <a:xfrm>
            <a:off x="-3551434" y="2564288"/>
            <a:ext cx="503583" cy="530087"/>
          </a:xfrm>
          <a:prstGeom prst="rect">
            <a:avLst/>
          </a:prstGeom>
          <a:solidFill>
            <a:srgbClr val="A2A5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5" name="PA-矩形 7">
            <a:extLst>
              <a:ext uri="{FF2B5EF4-FFF2-40B4-BE49-F238E27FC236}">
                <a16:creationId xmlns:a16="http://schemas.microsoft.com/office/drawing/2014/main" id="{3F88C64A-947B-5A7D-BB73-8B71F1219CD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96631" y="28617"/>
            <a:ext cx="107572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>
              <a:defRPr/>
            </a:pPr>
            <a:r>
              <a:rPr lang="en-US" altLang="zh-CN" sz="2800" b="1" dirty="0">
                <a:solidFill>
                  <a:srgbClr val="0D0A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Task 1: Evaluation with Train-Test Split vs. Cross-Validation</a:t>
            </a:r>
            <a:endParaRPr lang="zh-CN" altLang="en-US" sz="2800" b="1" dirty="0">
              <a:solidFill>
                <a:srgbClr val="0D0A4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FD3F091-1EB8-31CE-349C-32D54AEAA9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39057"/>
            <a:ext cx="12114286" cy="40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449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86697E8-43DF-EE3D-A5BF-0E2A56408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939" y="316468"/>
            <a:ext cx="10057143" cy="50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060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1BA2F12-24C2-4965-BB9D-FDD113BBA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768" y="281860"/>
            <a:ext cx="9657143" cy="39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259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71CF6-F7F3-3177-FA82-63B06F6D4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C3128E8-FB66-A303-956F-5AE723D90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428" y="790819"/>
            <a:ext cx="9657143" cy="390476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37A2683-A51A-DD62-41AE-9F902F486D92}"/>
              </a:ext>
            </a:extLst>
          </p:cNvPr>
          <p:cNvSpPr txBox="1"/>
          <p:nvPr/>
        </p:nvSpPr>
        <p:spPr>
          <a:xfrm>
            <a:off x="7404100" y="3797300"/>
            <a:ext cx="80021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en-US" sz="9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6F4CA6A-4D80-8086-B6C4-194E82A3097C}"/>
              </a:ext>
            </a:extLst>
          </p:cNvPr>
          <p:cNvSpPr txBox="1"/>
          <p:nvPr/>
        </p:nvSpPr>
        <p:spPr>
          <a:xfrm>
            <a:off x="1267428" y="4102026"/>
            <a:ext cx="3901472" cy="698574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538331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29268-921C-1DD5-483E-2DE0CDC3C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641C414-8D9F-9117-DC87-53B0FDAC6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428" y="790819"/>
            <a:ext cx="9657143" cy="390476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3813FF2-5721-AADB-1CC1-72692C883704}"/>
              </a:ext>
            </a:extLst>
          </p:cNvPr>
          <p:cNvSpPr txBox="1"/>
          <p:nvPr/>
        </p:nvSpPr>
        <p:spPr>
          <a:xfrm>
            <a:off x="7404100" y="3797300"/>
            <a:ext cx="80021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en-US" sz="9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FCAEA8A-85A1-ADBB-07E1-9A901D33E0A9}"/>
              </a:ext>
            </a:extLst>
          </p:cNvPr>
          <p:cNvSpPr txBox="1"/>
          <p:nvPr/>
        </p:nvSpPr>
        <p:spPr>
          <a:xfrm>
            <a:off x="1267428" y="4102026"/>
            <a:ext cx="3901472" cy="698574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C4424B4-D106-D6B2-4E7D-182AAA3D8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59" y="5366960"/>
            <a:ext cx="9516681" cy="1048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429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85AC4D8-B504-FED3-08B2-E1EF578B2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571" y="1143285"/>
            <a:ext cx="10542857" cy="45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6493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0B2BB-0003-A78B-61C6-76B22EE0E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BACB227-3174-A5C8-C240-4052E8185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759" y="291941"/>
            <a:ext cx="10029052" cy="110505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2C8F911-F53A-09EE-B360-4147F9C3F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384" y="1829085"/>
            <a:ext cx="10542857" cy="45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4507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C4076-F0F6-FFE0-4866-20597395F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0FAA93F-E014-5A96-6619-42C207B3E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759" y="291941"/>
            <a:ext cx="10029052" cy="110505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C8F65C1-19EA-571A-0513-0A2C52B09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384" y="1829085"/>
            <a:ext cx="10542857" cy="4571429"/>
          </a:xfrm>
          <a:prstGeom prst="rect">
            <a:avLst/>
          </a:prstGeom>
        </p:spPr>
      </p:pic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DA40D42E-926E-A873-E76B-E4FF27378878}"/>
              </a:ext>
            </a:extLst>
          </p:cNvPr>
          <p:cNvCxnSpPr/>
          <p:nvPr/>
        </p:nvCxnSpPr>
        <p:spPr>
          <a:xfrm>
            <a:off x="736600" y="1219200"/>
            <a:ext cx="104394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AD068E33-BC90-F3CD-3DFF-45DF458D56E8}"/>
              </a:ext>
            </a:extLst>
          </p:cNvPr>
          <p:cNvCxnSpPr/>
          <p:nvPr/>
        </p:nvCxnSpPr>
        <p:spPr>
          <a:xfrm>
            <a:off x="736600" y="4165600"/>
            <a:ext cx="104394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02211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3DE245C-C77A-4B71-A845-7CB747AAB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0132"/>
            <a:ext cx="12192000" cy="168893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4CE86BC-DC2D-71CE-0717-3856CA6DA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157" y="2184585"/>
            <a:ext cx="11114286" cy="297142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AD14E38-A48A-F218-39D6-A9A40145FC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7857" y="5484885"/>
            <a:ext cx="8714286" cy="11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9550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B37F03B-624C-81F9-D662-E2CCEC850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828" y="2414790"/>
            <a:ext cx="6471872" cy="358846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E05AF37-751C-19BF-E663-906D96C520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0303"/>
          <a:stretch>
            <a:fillRect/>
          </a:stretch>
        </p:blipFill>
        <p:spPr>
          <a:xfrm>
            <a:off x="0" y="1257300"/>
            <a:ext cx="12192000" cy="501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2384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C4951E8-43B4-3A59-AA6E-4789BB42E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" y="0"/>
            <a:ext cx="12192000" cy="268152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72365CE-2CA6-9013-AED2-7B2939109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5874" y="2427524"/>
            <a:ext cx="7583452" cy="443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0377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2E9BD1C-B506-2E8E-C234-626907CB9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848" y="0"/>
            <a:ext cx="74583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6193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D0311-6F4E-76E9-5C03-D29612933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059F9065-0310-A619-FEB2-F2553CFC5E3F}"/>
              </a:ext>
            </a:extLst>
          </p:cNvPr>
          <p:cNvSpPr/>
          <p:nvPr/>
        </p:nvSpPr>
        <p:spPr>
          <a:xfrm flipV="1">
            <a:off x="0" y="515837"/>
            <a:ext cx="12192000" cy="36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2C2254"/>
              </a:gs>
              <a:gs pos="83000">
                <a:srgbClr val="2C2254"/>
              </a:gs>
              <a:gs pos="100000">
                <a:srgbClr val="0D0A47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01F42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3A0860E-A479-1BC1-464D-D174FD0DFAED}"/>
              </a:ext>
            </a:extLst>
          </p:cNvPr>
          <p:cNvSpPr/>
          <p:nvPr/>
        </p:nvSpPr>
        <p:spPr>
          <a:xfrm>
            <a:off x="-3550653" y="212178"/>
            <a:ext cx="503583" cy="530087"/>
          </a:xfrm>
          <a:prstGeom prst="rect">
            <a:avLst/>
          </a:prstGeom>
          <a:solidFill>
            <a:srgbClr val="D332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4B64EAB-F4FE-6DA6-9EF3-F38143D1F059}"/>
              </a:ext>
            </a:extLst>
          </p:cNvPr>
          <p:cNvSpPr/>
          <p:nvPr/>
        </p:nvSpPr>
        <p:spPr>
          <a:xfrm>
            <a:off x="-3550653" y="775324"/>
            <a:ext cx="503583" cy="530087"/>
          </a:xfrm>
          <a:prstGeom prst="rect">
            <a:avLst/>
          </a:prstGeom>
          <a:solidFill>
            <a:srgbClr val="0D0A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483EE5A-8B38-977E-5657-9096EB812981}"/>
              </a:ext>
            </a:extLst>
          </p:cNvPr>
          <p:cNvSpPr/>
          <p:nvPr/>
        </p:nvSpPr>
        <p:spPr>
          <a:xfrm>
            <a:off x="-3551433" y="1338470"/>
            <a:ext cx="503583" cy="530087"/>
          </a:xfrm>
          <a:prstGeom prst="rect">
            <a:avLst/>
          </a:prstGeom>
          <a:solidFill>
            <a:srgbClr val="FFE4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756FE36-5E32-CF99-587C-18381F5066F6}"/>
              </a:ext>
            </a:extLst>
          </p:cNvPr>
          <p:cNvSpPr/>
          <p:nvPr/>
        </p:nvSpPr>
        <p:spPr>
          <a:xfrm>
            <a:off x="-3551433" y="1934675"/>
            <a:ext cx="503583" cy="530087"/>
          </a:xfrm>
          <a:prstGeom prst="rect">
            <a:avLst/>
          </a:prstGeom>
          <a:solidFill>
            <a:srgbClr val="2F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C95CA84-8916-ABE9-89CB-B5EF7C5F93B4}"/>
              </a:ext>
            </a:extLst>
          </p:cNvPr>
          <p:cNvSpPr/>
          <p:nvPr/>
        </p:nvSpPr>
        <p:spPr>
          <a:xfrm>
            <a:off x="-3551434" y="2564288"/>
            <a:ext cx="503583" cy="530087"/>
          </a:xfrm>
          <a:prstGeom prst="rect">
            <a:avLst/>
          </a:prstGeom>
          <a:solidFill>
            <a:srgbClr val="A2A5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5" name="PA-矩形 7">
            <a:extLst>
              <a:ext uri="{FF2B5EF4-FFF2-40B4-BE49-F238E27FC236}">
                <a16:creationId xmlns:a16="http://schemas.microsoft.com/office/drawing/2014/main" id="{F7A56E18-A2BA-A75A-2488-7F31524C420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96631" y="28617"/>
            <a:ext cx="9310177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>
              <a:defRPr/>
            </a:pPr>
            <a:r>
              <a:rPr lang="en-US" altLang="zh-CN" sz="2800" b="1" dirty="0">
                <a:solidFill>
                  <a:srgbClr val="0D0A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Task 2: Hyperparameter Tuning with </a:t>
            </a:r>
            <a:r>
              <a:rPr lang="en-US" altLang="zh-CN" sz="2800" b="1" dirty="0" err="1">
                <a:solidFill>
                  <a:srgbClr val="0D0A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GridSearchCV</a:t>
            </a:r>
            <a:endParaRPr lang="en-US" altLang="zh-CN" sz="2800" b="1" dirty="0">
              <a:solidFill>
                <a:srgbClr val="0D0A4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457200">
              <a:defRPr/>
            </a:pPr>
            <a:r>
              <a:rPr lang="en-US" altLang="zh-CN" sz="2800" b="1" dirty="0">
                <a:solidFill>
                  <a:srgbClr val="0D0A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(or </a:t>
            </a:r>
            <a:r>
              <a:rPr lang="en-US" altLang="zh-CN" sz="2800" b="1" dirty="0" err="1">
                <a:solidFill>
                  <a:srgbClr val="0D0A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RandomizedSearchCV</a:t>
            </a:r>
            <a:r>
              <a:rPr lang="en-US" altLang="zh-CN" sz="2800" b="1" dirty="0">
                <a:solidFill>
                  <a:srgbClr val="0D0A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800" b="1" dirty="0">
              <a:solidFill>
                <a:srgbClr val="0D0A4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ED8A1B0-8887-729D-8E33-224571E2C5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004825"/>
            <a:ext cx="12192000" cy="284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4297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B7EE117-3A34-6C02-CBC7-A09C5A09B5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17"/>
          <a:stretch>
            <a:fillRect/>
          </a:stretch>
        </p:blipFill>
        <p:spPr>
          <a:xfrm>
            <a:off x="850900" y="97031"/>
            <a:ext cx="5995585" cy="429487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CAC47D0-99A4-0D77-DB95-236A5E6E77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00" y="4600829"/>
            <a:ext cx="8314286" cy="20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0219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7E442-81C3-0F37-A437-21AD1F67C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C79EBFFD-6CA2-8F40-C3F9-58C3C7BDA0CA}"/>
              </a:ext>
            </a:extLst>
          </p:cNvPr>
          <p:cNvSpPr/>
          <p:nvPr/>
        </p:nvSpPr>
        <p:spPr>
          <a:xfrm flipV="1">
            <a:off x="0" y="515837"/>
            <a:ext cx="12192000" cy="36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2C2254"/>
              </a:gs>
              <a:gs pos="83000">
                <a:srgbClr val="2C2254"/>
              </a:gs>
              <a:gs pos="100000">
                <a:srgbClr val="0D0A47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01F42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9CCD8E0-E6C1-EA3E-0651-3C17BE94FB72}"/>
              </a:ext>
            </a:extLst>
          </p:cNvPr>
          <p:cNvSpPr/>
          <p:nvPr/>
        </p:nvSpPr>
        <p:spPr>
          <a:xfrm>
            <a:off x="-3550653" y="212178"/>
            <a:ext cx="503583" cy="530087"/>
          </a:xfrm>
          <a:prstGeom prst="rect">
            <a:avLst/>
          </a:prstGeom>
          <a:solidFill>
            <a:srgbClr val="D332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FA25EAD-923D-48D0-97AA-6456C39F4637}"/>
              </a:ext>
            </a:extLst>
          </p:cNvPr>
          <p:cNvSpPr/>
          <p:nvPr/>
        </p:nvSpPr>
        <p:spPr>
          <a:xfrm>
            <a:off x="-3550653" y="775324"/>
            <a:ext cx="503583" cy="530087"/>
          </a:xfrm>
          <a:prstGeom prst="rect">
            <a:avLst/>
          </a:prstGeom>
          <a:solidFill>
            <a:srgbClr val="0D0A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7D0883E-9CE4-6C96-B0C0-BA9DD283F3AD}"/>
              </a:ext>
            </a:extLst>
          </p:cNvPr>
          <p:cNvSpPr/>
          <p:nvPr/>
        </p:nvSpPr>
        <p:spPr>
          <a:xfrm>
            <a:off x="-3551433" y="1338470"/>
            <a:ext cx="503583" cy="530087"/>
          </a:xfrm>
          <a:prstGeom prst="rect">
            <a:avLst/>
          </a:prstGeom>
          <a:solidFill>
            <a:srgbClr val="FFE4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A9A3161-F996-1B31-5148-009723A1851B}"/>
              </a:ext>
            </a:extLst>
          </p:cNvPr>
          <p:cNvSpPr/>
          <p:nvPr/>
        </p:nvSpPr>
        <p:spPr>
          <a:xfrm>
            <a:off x="-3551433" y="1934675"/>
            <a:ext cx="503583" cy="530087"/>
          </a:xfrm>
          <a:prstGeom prst="rect">
            <a:avLst/>
          </a:prstGeom>
          <a:solidFill>
            <a:srgbClr val="2F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85D49E6-0D78-D4F3-A410-5479ADEE4AEF}"/>
              </a:ext>
            </a:extLst>
          </p:cNvPr>
          <p:cNvSpPr/>
          <p:nvPr/>
        </p:nvSpPr>
        <p:spPr>
          <a:xfrm>
            <a:off x="-3551434" y="2564288"/>
            <a:ext cx="503583" cy="530087"/>
          </a:xfrm>
          <a:prstGeom prst="rect">
            <a:avLst/>
          </a:prstGeom>
          <a:solidFill>
            <a:srgbClr val="A2A5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5" name="PA-矩形 7">
            <a:extLst>
              <a:ext uri="{FF2B5EF4-FFF2-40B4-BE49-F238E27FC236}">
                <a16:creationId xmlns:a16="http://schemas.microsoft.com/office/drawing/2014/main" id="{9583E2CF-30C5-1F54-FC76-849162F0DFFC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96631" y="28617"/>
            <a:ext cx="9310177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>
              <a:defRPr/>
            </a:pPr>
            <a:r>
              <a:rPr lang="en-US" altLang="zh-CN" sz="2800" b="1" dirty="0">
                <a:solidFill>
                  <a:srgbClr val="0D0A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Task 2: Hyperparameter Tuning with </a:t>
            </a:r>
            <a:r>
              <a:rPr lang="en-US" altLang="zh-CN" sz="2800" b="1" dirty="0" err="1">
                <a:solidFill>
                  <a:srgbClr val="0D0A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GridSearchCV</a:t>
            </a:r>
            <a:endParaRPr lang="en-US" altLang="zh-CN" sz="2800" b="1" dirty="0">
              <a:solidFill>
                <a:srgbClr val="0D0A4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457200">
              <a:defRPr/>
            </a:pPr>
            <a:r>
              <a:rPr lang="en-US" altLang="zh-CN" sz="2800" b="1" dirty="0">
                <a:solidFill>
                  <a:srgbClr val="0D0A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(or </a:t>
            </a:r>
            <a:r>
              <a:rPr lang="en-US" altLang="zh-CN" sz="2800" b="1" dirty="0" err="1">
                <a:solidFill>
                  <a:srgbClr val="0D0A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RandomizedSearchCV</a:t>
            </a:r>
            <a:r>
              <a:rPr lang="en-US" altLang="zh-CN" sz="2800" b="1" dirty="0">
                <a:solidFill>
                  <a:srgbClr val="0D0A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800" b="1" dirty="0">
              <a:solidFill>
                <a:srgbClr val="0D0A4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27073F7-BD24-340F-1A87-4837F6C47E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48988"/>
            <a:ext cx="12192000" cy="2305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7484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E63058EE-75FB-5230-0B36-60A1954E1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6524"/>
            <a:ext cx="12192000" cy="308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3330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D7CC863-C3E5-0512-2AF8-87A43E158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999" y="419994"/>
            <a:ext cx="10379953" cy="6438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4859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1368628-DE03-98D3-18E3-305EA525A2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550039"/>
            <a:ext cx="9994900" cy="550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9775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7D25F7F-30A0-DBB8-8D70-DDB81D6BA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0638"/>
            <a:ext cx="12192000" cy="1209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3524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E670D-4860-CCDC-6B68-EE15DE4A5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5F7A242-7446-0FBE-B795-C43E4F472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600" y="163254"/>
            <a:ext cx="7967493" cy="6531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9673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0839F4C-91E5-0ED2-C594-6529CC8D3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428" y="614714"/>
            <a:ext cx="8257143" cy="56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752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6A03C38-D8B6-F2CD-D1C5-BEB3D0902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6271"/>
            <a:ext cx="12192000" cy="2394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317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173FF8D-7B3D-CEE9-EAE7-6082469DA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2902"/>
            <a:ext cx="12192000" cy="2569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3155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A199592-303F-642F-7796-832CB71EE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6073"/>
            <a:ext cx="12192000" cy="444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3756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5ECCF69-963D-8FA3-9E61-628EADC15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" y="678110"/>
            <a:ext cx="12192000" cy="617989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3F4CDA35-11AA-52E6-6263-B9D51DE6933D}"/>
              </a:ext>
            </a:extLst>
          </p:cNvPr>
          <p:cNvSpPr/>
          <p:nvPr/>
        </p:nvSpPr>
        <p:spPr>
          <a:xfrm flipV="1">
            <a:off x="0" y="515837"/>
            <a:ext cx="12192000" cy="36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rgbClr val="2C2254"/>
              </a:gs>
              <a:gs pos="83000">
                <a:srgbClr val="2C2254"/>
              </a:gs>
              <a:gs pos="100000">
                <a:srgbClr val="0D0A47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201F42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5" name="PA-矩形 7">
            <a:extLst>
              <a:ext uri="{FF2B5EF4-FFF2-40B4-BE49-F238E27FC236}">
                <a16:creationId xmlns:a16="http://schemas.microsoft.com/office/drawing/2014/main" id="{3EFA3B38-42BD-F6D5-520C-6F867666DFF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96631" y="28617"/>
            <a:ext cx="60660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>
              <a:defRPr/>
            </a:pPr>
            <a:r>
              <a:rPr lang="en-US" altLang="zh-CN" sz="2800" b="1" dirty="0">
                <a:solidFill>
                  <a:srgbClr val="0D0A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Task 3: Comparison and Analysis</a:t>
            </a:r>
          </a:p>
        </p:txBody>
      </p:sp>
    </p:spTree>
    <p:extLst>
      <p:ext uri="{BB962C8B-B14F-4D97-AF65-F5344CB8AC3E}">
        <p14:creationId xmlns:p14="http://schemas.microsoft.com/office/powerpoint/2010/main" val="707728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BB7F1C7-67BA-480D-E78B-B0EEA66E8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11"/>
            <a:ext cx="12192000" cy="517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75227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2"/>
  <p:tag name="RESOURCELIBID" val="43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2"/>
  <p:tag name="RESOURCELIBID" val="43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2"/>
  <p:tag name="RESOURCELIBID" val="43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2"/>
  <p:tag name="RESOURCELIBID" val="43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2"/>
  <p:tag name="RESOURCELIBID" val="43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2"/>
  <p:tag name="RESOURCELIBID" val="43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0.2"/>
  <p:tag name="RESOURCELIBID" val="436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</TotalTime>
  <Words>250</Words>
  <Application>Microsoft Office PowerPoint</Application>
  <PresentationFormat>宽屏</PresentationFormat>
  <Paragraphs>39</Paragraphs>
  <Slides>35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2" baseType="lpstr">
      <vt:lpstr>等线</vt:lpstr>
      <vt:lpstr>等线 Light</vt:lpstr>
      <vt:lpstr>微软雅黑</vt:lpstr>
      <vt:lpstr>Arial</vt:lpstr>
      <vt:lpstr>Calibri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Guanyao LI</dc:creator>
  <cp:lastModifiedBy>Tianyi He</cp:lastModifiedBy>
  <cp:revision>5</cp:revision>
  <dcterms:created xsi:type="dcterms:W3CDTF">2026-03-24T02:48:19Z</dcterms:created>
  <dcterms:modified xsi:type="dcterms:W3CDTF">2026-04-10T11:27:10Z</dcterms:modified>
</cp:coreProperties>
</file>